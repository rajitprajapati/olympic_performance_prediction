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68" r:id="rId2"/>
    <p:sldId id="267" r:id="rId3"/>
    <p:sldId id="257" r:id="rId4"/>
    <p:sldId id="258" r:id="rId5"/>
    <p:sldId id="259" r:id="rId6"/>
    <p:sldId id="270" r:id="rId7"/>
    <p:sldId id="260" r:id="rId8"/>
    <p:sldId id="269" r:id="rId9"/>
    <p:sldId id="261" r:id="rId10"/>
    <p:sldId id="274" r:id="rId11"/>
    <p:sldId id="272" r:id="rId12"/>
    <p:sldId id="264" r:id="rId13"/>
    <p:sldId id="266" r:id="rId14"/>
    <p:sldId id="271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B78275-7FA9-4320-BDF2-C4231EBE3862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E532FA-BDB6-409C-89B9-0A0711D3B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35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6039-8041-476D-9507-E2B6F46D0820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AFA8F-AC30-40D4-AB02-36B11B89303B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A90D-F5EB-4C92-B2DB-1938AAB49FBA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4119A-827E-44A2-B8C6-189792166048}" type="datetime1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F30C-CCA6-4614-8160-273D51751BDE}" type="datetime1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BB6B7-0A2A-4910-97DC-54DD59099F2F}" type="datetime1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91FD2-841A-469B-8F4D-27DD38B80DD9}" type="datetime1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196DA-FCA4-4C35-A719-3BD7ED7E4F4C}" type="datetime1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0A2C7-2CB9-4F3A-AC72-5CD86EBC5D30}" type="datetime1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9169-2354-4A22-99E9-A16DBC0AF340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76837-0292-422E-9A22-0D4AC05892BC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E9D23-71A4-4C40-BD1B-1FBB0F681B7B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infyspringboard.onwingspan.com/web/en/app/toc/lex_auth_" TargetMode="External"/><Relationship Id="rId2" Type="http://schemas.openxmlformats.org/officeDocument/2006/relationships/hyperlink" Target="https://towardsdatascience.com/top-5-machine-learning-libraries-in-python-e36e3e0e02af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81CA-974C-469C-8B44-0B4E7B8E7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3409"/>
            <a:ext cx="8229600" cy="2174966"/>
          </a:xfrm>
        </p:spPr>
        <p:txBody>
          <a:bodyPr>
            <a:noAutofit/>
          </a:bodyPr>
          <a:lstStyle/>
          <a:p>
            <a:r>
              <a:rPr lang="en-IN" sz="6600" b="1" u="sng" dirty="0">
                <a:uFill>
                  <a:solidFill>
                    <a:schemeClr val="accent1"/>
                  </a:solidFill>
                </a:uFill>
              </a:rPr>
              <a:t>Olympics Performance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2C5D8-E2C3-4BBF-B1A2-57C589AA5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04564"/>
            <a:ext cx="8229600" cy="3514165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US" sz="5900" b="1" dirty="0"/>
              <a:t>Presented By:</a:t>
            </a:r>
          </a:p>
          <a:p>
            <a:pPr marL="0" indent="0" algn="ctr">
              <a:buNone/>
            </a:pPr>
            <a:endParaRPr lang="en-US" sz="5100" b="1" dirty="0"/>
          </a:p>
          <a:p>
            <a:pPr marL="0" indent="0" algn="ctr">
              <a:buNone/>
            </a:pPr>
            <a:r>
              <a:rPr lang="en-US" sz="6000" dirty="0"/>
              <a:t>Yash Bhargava</a:t>
            </a:r>
            <a:r>
              <a:rPr lang="en-US" sz="5100" dirty="0"/>
              <a:t>               </a:t>
            </a:r>
            <a:r>
              <a:rPr lang="en-US" sz="6000" dirty="0"/>
              <a:t>Rajit Kumar Prajapati</a:t>
            </a:r>
            <a:r>
              <a:rPr lang="en-US" sz="4400" dirty="0"/>
              <a:t>            </a:t>
            </a:r>
            <a:r>
              <a:rPr lang="en-US" sz="6000" dirty="0"/>
              <a:t>Ritik Prakash   </a:t>
            </a:r>
          </a:p>
          <a:p>
            <a:pPr marL="0" indent="0" algn="ctr">
              <a:buNone/>
            </a:pPr>
            <a:r>
              <a:rPr lang="en-US" sz="6000" dirty="0"/>
              <a:t>(221B456)</a:t>
            </a:r>
            <a:r>
              <a:rPr lang="en-US" sz="4400" dirty="0"/>
              <a:t>                               </a:t>
            </a:r>
            <a:r>
              <a:rPr lang="en-US" sz="6000" dirty="0"/>
              <a:t>(221B482)</a:t>
            </a:r>
            <a:r>
              <a:rPr lang="en-US" sz="4400" dirty="0"/>
              <a:t>                               </a:t>
            </a:r>
            <a:r>
              <a:rPr lang="en-US" sz="6000" dirty="0"/>
              <a:t>(221B498)</a:t>
            </a:r>
            <a:endParaRPr lang="en-US" sz="4400" dirty="0"/>
          </a:p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6000" b="1" dirty="0"/>
              <a:t>Project Coordinator : </a:t>
            </a:r>
            <a:r>
              <a:rPr lang="en-US" sz="6000" dirty="0"/>
              <a:t>Dr. Rahul Pachauri</a:t>
            </a:r>
          </a:p>
          <a:p>
            <a:pPr algn="ctr"/>
            <a:endParaRPr lang="en-US" sz="6000" dirty="0"/>
          </a:p>
          <a:p>
            <a:pPr marL="0" indent="0" algn="ctr">
              <a:buNone/>
            </a:pPr>
            <a:r>
              <a:rPr lang="en-US" sz="6000" b="1" dirty="0"/>
              <a:t>Project No. : </a:t>
            </a:r>
            <a:r>
              <a:rPr lang="en-US" sz="6000" dirty="0"/>
              <a:t>RP4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5968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9C37C-33B7-4FAF-AE45-6A3D1B2FF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92306"/>
          </a:xfrm>
        </p:spPr>
        <p:txBody>
          <a:bodyPr>
            <a:normAutofit/>
          </a:bodyPr>
          <a:lstStyle/>
          <a:p>
            <a:r>
              <a:rPr lang="en-US" sz="6000" b="1" u="sng" dirty="0">
                <a:uFill>
                  <a:solidFill>
                    <a:schemeClr val="accent1"/>
                  </a:solidFill>
                </a:uFill>
              </a:rPr>
              <a:t>TABLE OF CONTENTS</a:t>
            </a:r>
            <a:endParaRPr lang="en-IN" sz="6000" u="sng" dirty="0">
              <a:uFill>
                <a:solidFill>
                  <a:schemeClr val="accent1"/>
                </a:solidFill>
              </a:uFill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C2A91C2-F2D2-4B53-8A7B-C669DD45B4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490702"/>
              </p:ext>
            </p:extLst>
          </p:nvPr>
        </p:nvGraphicFramePr>
        <p:xfrm>
          <a:off x="804163" y="1158240"/>
          <a:ext cx="7535673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9945">
                  <a:extLst>
                    <a:ext uri="{9D8B030D-6E8A-4147-A177-3AD203B41FA5}">
                      <a16:colId xmlns:a16="http://schemas.microsoft.com/office/drawing/2014/main" val="2326429536"/>
                    </a:ext>
                  </a:extLst>
                </a:gridCol>
                <a:gridCol w="2395728">
                  <a:extLst>
                    <a:ext uri="{9D8B030D-6E8A-4147-A177-3AD203B41FA5}">
                      <a16:colId xmlns:a16="http://schemas.microsoft.com/office/drawing/2014/main" val="4086032803"/>
                    </a:ext>
                  </a:extLst>
                </a:gridCol>
              </a:tblGrid>
              <a:tr h="472555">
                <a:tc>
                  <a:txBody>
                    <a:bodyPr/>
                    <a:lstStyle/>
                    <a:p>
                      <a:r>
                        <a:rPr lang="en-IN" sz="2600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SLIDE NO.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142900"/>
                  </a:ext>
                </a:extLst>
              </a:tr>
              <a:tr h="47255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599148"/>
                  </a:ext>
                </a:extLst>
              </a:tr>
              <a:tr h="47255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Requirement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4-5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943472"/>
                  </a:ext>
                </a:extLst>
              </a:tr>
              <a:tr h="47255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Performance Prediction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956435"/>
                  </a:ext>
                </a:extLst>
              </a:tr>
              <a:tr h="47255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Tools And Technologies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7-8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888570"/>
                  </a:ext>
                </a:extLst>
              </a:tr>
              <a:tr h="47255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Models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377782"/>
                  </a:ext>
                </a:extLst>
              </a:tr>
              <a:tr h="47255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Performance Metrics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53157"/>
                  </a:ext>
                </a:extLst>
              </a:tr>
              <a:tr h="47255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Expected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636480"/>
                  </a:ext>
                </a:extLst>
              </a:tr>
              <a:tr h="47255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26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Challenges</a:t>
                      </a:r>
                      <a:endParaRPr lang="en-US" sz="26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808883"/>
                  </a:ext>
                </a:extLst>
              </a:tr>
              <a:tr h="47255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857623"/>
                  </a:ext>
                </a:extLst>
              </a:tr>
              <a:tr h="47255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2453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38E40E-0DEB-4B1F-AAAD-1A4A3B7C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151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b="1" u="sng" dirty="0">
                <a:uFill>
                  <a:solidFill>
                    <a:schemeClr val="accent1"/>
                  </a:solidFill>
                </a:u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2248"/>
            <a:ext cx="8229600" cy="3760694"/>
          </a:xfrm>
        </p:spPr>
        <p:txBody>
          <a:bodyPr>
            <a:normAutofit/>
          </a:bodyPr>
          <a:lstStyle/>
          <a:p>
            <a:pPr algn="just"/>
            <a:r>
              <a:rPr sz="2800" dirty="0"/>
              <a:t>Predicting Olympic performance based on historical data and athlete attributes.</a:t>
            </a:r>
          </a:p>
          <a:p>
            <a:r>
              <a:rPr sz="2800" dirty="0"/>
              <a:t>Helps in talent scouting, training plans, and performance enhancement.</a:t>
            </a:r>
          </a:p>
          <a:p>
            <a:r>
              <a:rPr sz="2800" dirty="0"/>
              <a:t>Utilizes machine learning models to forecast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38316-1D13-4673-9F80-EF146A8F6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u="sng" dirty="0">
                <a:uFill>
                  <a:solidFill>
                    <a:schemeClr val="accent1"/>
                  </a:solidFill>
                </a:uFill>
              </a:rPr>
              <a:t>Requirement Analysis</a:t>
            </a:r>
            <a:endParaRPr sz="6000" b="1" u="sng" dirty="0">
              <a:uFill>
                <a:solidFill>
                  <a:schemeClr val="accent1"/>
                </a:solidFill>
              </a:u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3715871"/>
          </a:xfrm>
        </p:spPr>
        <p:txBody>
          <a:bodyPr>
            <a:normAutofit/>
          </a:bodyPr>
          <a:lstStyle/>
          <a:p>
            <a:r>
              <a:rPr sz="2800" dirty="0"/>
              <a:t>Historical Olympic data (medals, results, events).</a:t>
            </a:r>
          </a:p>
          <a:p>
            <a:r>
              <a:rPr sz="2800" dirty="0"/>
              <a:t>Athlete attributes (age, height, weight, nationality, past performance).</a:t>
            </a:r>
          </a:p>
          <a:p>
            <a:r>
              <a:rPr sz="2800" dirty="0"/>
              <a:t>Environmental and external factors (weather, location, competition level).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DF5B1-8388-438E-A593-6E2EC9505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u="sng" dirty="0">
                <a:uFill>
                  <a:solidFill>
                    <a:schemeClr val="accent1"/>
                  </a:solidFill>
                </a:uFill>
              </a:rPr>
              <a:t>Requirement Analysis</a:t>
            </a:r>
            <a:endParaRPr sz="6000" b="1" u="sng" dirty="0">
              <a:uFill>
                <a:solidFill>
                  <a:schemeClr val="accent1"/>
                </a:solidFill>
              </a:u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06388"/>
            <a:ext cx="8229600" cy="4226859"/>
          </a:xfrm>
        </p:spPr>
        <p:txBody>
          <a:bodyPr>
            <a:normAutofit/>
          </a:bodyPr>
          <a:lstStyle/>
          <a:p>
            <a:r>
              <a:rPr sz="2800" dirty="0"/>
              <a:t>Athlete demographics (age, height, weight, country).</a:t>
            </a:r>
          </a:p>
          <a:p>
            <a:r>
              <a:rPr sz="2800" dirty="0"/>
              <a:t>Previous Olympic records and performance trends.</a:t>
            </a:r>
          </a:p>
          <a:p>
            <a:r>
              <a:rPr sz="2800" dirty="0"/>
              <a:t>Sport-specific attributes (e.g., speed, endurance, strength).</a:t>
            </a:r>
          </a:p>
          <a:p>
            <a:r>
              <a:rPr sz="2800" dirty="0"/>
              <a:t>Competition factors (opponents, conditions, historical trends).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FDBFF-A4C3-4CB7-B21D-C83414E5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EF800-2145-4DC9-AFF8-82CAA2EA4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867928"/>
          </a:xfrm>
        </p:spPr>
        <p:txBody>
          <a:bodyPr>
            <a:noAutofit/>
          </a:bodyPr>
          <a:lstStyle/>
          <a:p>
            <a:r>
              <a:rPr lang="en-US" sz="6000" b="1" u="sng" dirty="0">
                <a:uFill>
                  <a:solidFill>
                    <a:schemeClr val="accent1"/>
                  </a:solidFill>
                </a:uFill>
              </a:rPr>
              <a:t>Performance Prediction Workflow</a:t>
            </a:r>
            <a:endParaRPr lang="en-IN" sz="6000" b="1" u="sng" dirty="0">
              <a:uFill>
                <a:solidFill>
                  <a:schemeClr val="accent1"/>
                </a:solidFill>
              </a:u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2105B00-7699-4AA7-95A6-87DAFFAF1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072" y="2248707"/>
            <a:ext cx="8753856" cy="3218688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6EE46F-E82E-4F00-B51E-E582C5344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50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2920"/>
            <a:ext cx="8229600" cy="1724492"/>
          </a:xfrm>
        </p:spPr>
        <p:txBody>
          <a:bodyPr>
            <a:noAutofit/>
          </a:bodyPr>
          <a:lstStyle/>
          <a:p>
            <a:r>
              <a:rPr lang="en-US" sz="6000" b="1" u="sng" cap="none" spc="0" dirty="0">
                <a:ln w="0"/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</a:rPr>
              <a:t>Tools And Technologies Used</a:t>
            </a:r>
            <a:endParaRPr sz="6000" u="sng" dirty="0">
              <a:uFill>
                <a:solidFill>
                  <a:schemeClr val="accent1"/>
                </a:solidFill>
              </a:u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27412"/>
            <a:ext cx="8229600" cy="45259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3600" b="1" dirty="0"/>
              <a:t>Pandas: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600" b="1" dirty="0"/>
              <a:t>Purpose:</a:t>
            </a:r>
            <a:r>
              <a:rPr lang="en-US" sz="3300" b="1" dirty="0"/>
              <a:t> </a:t>
            </a:r>
            <a:r>
              <a:rPr lang="en-US" sz="3300" dirty="0"/>
              <a:t>Data manipulation and analysis </a:t>
            </a:r>
            <a:endParaRPr lang="en-IN" sz="33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3600" b="1" dirty="0"/>
              <a:t>Use in Project:</a:t>
            </a:r>
            <a:r>
              <a:rPr lang="en-US" sz="3300" dirty="0"/>
              <a:t>Handles data loading and preprocessing (like reading the dataset, creating dummy variables, and manipulating </a:t>
            </a:r>
            <a:r>
              <a:rPr lang="en-US" sz="3300" dirty="0" err="1"/>
              <a:t>dataframes</a:t>
            </a:r>
            <a:r>
              <a:rPr lang="en-US" sz="3300" dirty="0"/>
              <a:t>).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IN" sz="26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3600" b="1" dirty="0"/>
              <a:t>NumPy: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3600" b="1" dirty="0"/>
              <a:t>Purpose:</a:t>
            </a:r>
            <a:r>
              <a:rPr lang="en-IN" sz="3400" b="1" dirty="0"/>
              <a:t> </a:t>
            </a:r>
            <a:r>
              <a:rPr lang="en-IN" sz="3400" dirty="0"/>
              <a:t>Numerical computation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3600" b="1" dirty="0"/>
              <a:t>Use in Project:</a:t>
            </a:r>
            <a:r>
              <a:rPr lang="en-US" sz="3400" dirty="0"/>
              <a:t>Powers numerical operations like array manipulations, which support data structures and computations , also used to converting or reshaping the dataset.</a:t>
            </a:r>
            <a:endParaRPr lang="en-IN" sz="3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83533-3E1E-4B0E-85F8-F937AE2A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1C238-E684-48E7-B4DB-36769B49D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0176"/>
            <a:ext cx="8229600" cy="470525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b="1" dirty="0"/>
              <a:t>Matplotlib: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Purpose:</a:t>
            </a:r>
            <a:r>
              <a:rPr lang="en-IN" sz="2600" b="1" dirty="0"/>
              <a:t> </a:t>
            </a:r>
            <a:r>
              <a:rPr lang="en-IN" sz="2600" dirty="0"/>
              <a:t>Visualization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Use in Project:</a:t>
            </a:r>
            <a:r>
              <a:rPr lang="en-US" sz="2600" dirty="0"/>
              <a:t>Used to visualize data through plots or charts , plotting the ensemble machine learning algorithms to understand the precision and recall plot</a:t>
            </a:r>
            <a:r>
              <a:rPr lang="en-IN" sz="2600" b="1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/>
              <a:t>Scikit-learn</a:t>
            </a:r>
            <a:r>
              <a:rPr lang="en-IN" sz="28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Purpose:</a:t>
            </a:r>
            <a:r>
              <a:rPr lang="en-IN" sz="2600" b="1" dirty="0"/>
              <a:t> </a:t>
            </a:r>
            <a:r>
              <a:rPr lang="en-IN" sz="2600" dirty="0"/>
              <a:t>Implement and train models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Use in Project:</a:t>
            </a:r>
            <a:r>
              <a:rPr lang="en-US" sz="2600" dirty="0"/>
              <a:t>Used to implement and train the classifier, make predictions, and evaluate model performance (e.g., accuracy).</a:t>
            </a:r>
            <a:endParaRPr lang="en-IN" sz="2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C69D0C7-CAA4-45BC-8B96-B06CAC499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3955"/>
            <a:ext cx="8229600" cy="1666221"/>
          </a:xfrm>
        </p:spPr>
        <p:txBody>
          <a:bodyPr>
            <a:noAutofit/>
          </a:bodyPr>
          <a:lstStyle/>
          <a:p>
            <a:r>
              <a:rPr lang="en-US" sz="6000" b="1" u="sng" cap="none" spc="0" dirty="0">
                <a:ln w="0"/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</a:rPr>
              <a:t>Tools And Technologies Used</a:t>
            </a:r>
            <a:endParaRPr sz="6000" u="sng" dirty="0">
              <a:uFill>
                <a:solidFill>
                  <a:schemeClr val="accent1"/>
                </a:solidFill>
              </a:u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A26B6-A6F8-4C24-8349-686E70A81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03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b="1" u="sng" dirty="0">
                <a:uFill>
                  <a:solidFill>
                    <a:schemeClr val="accent1"/>
                  </a:solidFill>
                </a:uFill>
              </a:rPr>
              <a:t>Models</a:t>
            </a:r>
            <a:r>
              <a:rPr lang="en-IN" sz="6000" b="1" u="sng" dirty="0">
                <a:uFill>
                  <a:solidFill>
                    <a:schemeClr val="accent1"/>
                  </a:solidFill>
                </a:uFill>
              </a:rPr>
              <a:t> Used</a:t>
            </a:r>
            <a:endParaRPr sz="6000" b="1" u="sng" dirty="0">
              <a:uFill>
                <a:solidFill>
                  <a:schemeClr val="accent1"/>
                </a:solidFill>
              </a:u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4319"/>
            <a:ext cx="8229600" cy="39310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Linear Regression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Logistic Regression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Decision Tree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Random Forest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Gradient Boosting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D5406-F252-412A-81C6-0B603A860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0706-B585-4D9D-B0F5-22E3C3BC4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>
                <a:uFill>
                  <a:solidFill>
                    <a:schemeClr val="accent1"/>
                  </a:solidFill>
                </a:uFill>
              </a:rPr>
              <a:t>P</a:t>
            </a:r>
            <a:r>
              <a:rPr lang="en-IN" sz="4400" b="1" u="sng" dirty="0">
                <a:uFill>
                  <a:solidFill>
                    <a:schemeClr val="accent1"/>
                  </a:solidFill>
                </a:uFill>
              </a:rPr>
              <a:t>erformance Metrics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527A8-0726-4F2F-A16D-7F296E0E2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Accuracy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Precision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Recall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F1 Score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AD1DC-A090-4610-BC1A-13FB34741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31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2A647-3F56-4609-B90D-F59EB9CA0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7061"/>
            <a:ext cx="8229600" cy="1143000"/>
          </a:xfrm>
        </p:spPr>
        <p:txBody>
          <a:bodyPr>
            <a:normAutofit/>
          </a:bodyPr>
          <a:lstStyle/>
          <a:p>
            <a:r>
              <a:rPr lang="en-IN" sz="6000" b="1" u="sng" dirty="0">
                <a:uFill>
                  <a:solidFill>
                    <a:schemeClr val="accent1"/>
                  </a:solidFill>
                </a:uFill>
              </a:rPr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BB919-C02B-4DC1-AED1-D5EC938EB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74863"/>
            <a:ext cx="8229600" cy="2868612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Accurate Medal Predictions</a:t>
            </a:r>
          </a:p>
          <a:p>
            <a:pPr algn="just"/>
            <a:r>
              <a:rPr lang="en-US" sz="2800" dirty="0"/>
              <a:t>Key Performance Insights</a:t>
            </a:r>
          </a:p>
          <a:p>
            <a:pPr algn="just"/>
            <a:r>
              <a:rPr lang="en-US" sz="2800" dirty="0"/>
              <a:t>Data Visualization &amp; Trends</a:t>
            </a:r>
          </a:p>
          <a:p>
            <a:pPr algn="just"/>
            <a:r>
              <a:rPr lang="en-US" sz="2800" dirty="0"/>
              <a:t>Model Evaluation &amp; Accuracy</a:t>
            </a:r>
            <a:endParaRPr lang="en-US" sz="26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B95CD-D194-44EA-9D85-473E503E6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03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b="1" u="sng" dirty="0">
                <a:uFill>
                  <a:solidFill>
                    <a:schemeClr val="accent1"/>
                  </a:solidFill>
                </a:uFill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61564"/>
            <a:ext cx="8229600" cy="3850341"/>
          </a:xfrm>
        </p:spPr>
        <p:txBody>
          <a:bodyPr>
            <a:normAutofit/>
          </a:bodyPr>
          <a:lstStyle/>
          <a:p>
            <a:r>
              <a:rPr sz="2800" dirty="0"/>
              <a:t>Data availability and quality.</a:t>
            </a:r>
          </a:p>
          <a:p>
            <a:r>
              <a:rPr sz="2800" dirty="0"/>
              <a:t>Variability in athlete performance.</a:t>
            </a:r>
          </a:p>
          <a:p>
            <a:r>
              <a:rPr sz="2800" dirty="0"/>
              <a:t>External factors influencing results.</a:t>
            </a:r>
          </a:p>
          <a:p>
            <a:r>
              <a:rPr sz="2800" dirty="0"/>
              <a:t>Model interpretability and bias issues.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67D6F-DB6D-4292-BB64-F793E3F3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b="1" u="sng" dirty="0">
                <a:uFill>
                  <a:solidFill>
                    <a:schemeClr val="accent1"/>
                  </a:solidFill>
                </a:u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Predicts Olympic performance using historical data and Machine Learning models.</a:t>
            </a:r>
          </a:p>
          <a:p>
            <a:pPr algn="just"/>
            <a:r>
              <a:rPr sz="2800" dirty="0"/>
              <a:t>Data-driven insights can enhance training strategies.</a:t>
            </a:r>
          </a:p>
          <a:p>
            <a:pPr algn="just"/>
            <a:r>
              <a:rPr sz="2800" dirty="0"/>
              <a:t>Overcoming challenges can improve accuracy and fairness.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04EA1-1388-4298-A9B3-BB31BBFA8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3BCE5-AFBF-44CA-ADC5-B533438C4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u="sng" dirty="0">
                <a:uFill>
                  <a:solidFill>
                    <a:schemeClr val="accent1"/>
                  </a:solidFill>
                </a:uFill>
              </a:rPr>
              <a:t>References</a:t>
            </a:r>
            <a:endParaRPr lang="en-IN" sz="6000" u="sng" dirty="0">
              <a:uFill>
                <a:solidFill>
                  <a:schemeClr val="accent1"/>
                </a:solidFill>
              </a:u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45921-CAA5-452A-816D-11BFD1E13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97423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b="1" dirty="0"/>
              <a:t>Tools and libraries : </a:t>
            </a:r>
            <a:r>
              <a:rPr lang="en-US" sz="2800" b="1" dirty="0">
                <a:solidFill>
                  <a:srgbClr val="0070C0"/>
                </a:solidFill>
                <a:hlinkClick r:id="rId2"/>
              </a:rPr>
              <a:t>https://towardsdatascience.com/top-5-machine-learning-libraries-in-python-e36e3e0e02af</a:t>
            </a:r>
            <a:endParaRPr lang="en-US" sz="2800" b="1" dirty="0">
              <a:solidFill>
                <a:srgbClr val="0070C0"/>
              </a:solidFill>
            </a:endParaRPr>
          </a:p>
          <a:p>
            <a:r>
              <a:rPr lang="en-US" sz="2800" b="1" dirty="0"/>
              <a:t>Infosys course : </a:t>
            </a:r>
            <a:r>
              <a:rPr lang="en-US" sz="2800" b="1" u="sng" dirty="0">
                <a:solidFill>
                  <a:srgbClr val="0070C0"/>
                </a:solidFill>
                <a:hlinkClick r:id="rId3"/>
              </a:rPr>
              <a:t>https://infyspringboard.onwingspan.com/web/en/app/toc/lex_auth_</a:t>
            </a:r>
            <a:r>
              <a:rPr lang="en-US" sz="2800" b="1" u="sng" dirty="0">
                <a:solidFill>
                  <a:srgbClr val="0070C0"/>
                </a:solidFill>
              </a:rPr>
              <a:t> 013720165067218944334_shared/overview</a:t>
            </a:r>
          </a:p>
          <a:p>
            <a:pPr marL="0" indent="0">
              <a:buNone/>
            </a:pPr>
            <a:endParaRPr lang="en-I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A3016-A396-4F43-93FB-7A5B998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75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A571C-9FF7-4FA9-A63B-37768BF8D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921" y="1617663"/>
            <a:ext cx="8046158" cy="1143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B2DF5B-FE93-408C-90DD-AC955BC1C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625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463</Words>
  <Application>Microsoft Office PowerPoint</Application>
  <PresentationFormat>On-screen Show (4:3)</PresentationFormat>
  <Paragraphs>103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Olympics Performance Prediction</vt:lpstr>
      <vt:lpstr>TABLE OF CONTENTS</vt:lpstr>
      <vt:lpstr>Introduction</vt:lpstr>
      <vt:lpstr>Requirement Analysis</vt:lpstr>
      <vt:lpstr>Requirement Analysis</vt:lpstr>
      <vt:lpstr>Performance Prediction Workflow</vt:lpstr>
      <vt:lpstr>Tools And Technologies Used</vt:lpstr>
      <vt:lpstr>Tools And Technologies Used</vt:lpstr>
      <vt:lpstr>Models Used</vt:lpstr>
      <vt:lpstr>Performance Metrics Used</vt:lpstr>
      <vt:lpstr>Expected Outcome</vt:lpstr>
      <vt:lpstr>Challenges</vt:lpstr>
      <vt:lpstr>Conclusion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Olympics Performance Prediction</dc:title>
  <dc:subject/>
  <dc:creator>Ritik Prakash</dc:creator>
  <cp:keywords/>
  <dc:description>generated using python-pptx</dc:description>
  <cp:lastModifiedBy>Ritik Prakash</cp:lastModifiedBy>
  <cp:revision>25</cp:revision>
  <dcterms:created xsi:type="dcterms:W3CDTF">2013-01-27T09:14:16Z</dcterms:created>
  <dcterms:modified xsi:type="dcterms:W3CDTF">2025-04-09T05:25:05Z</dcterms:modified>
  <cp:category/>
</cp:coreProperties>
</file>